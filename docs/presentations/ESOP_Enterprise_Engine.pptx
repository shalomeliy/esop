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halom.eliy@gmail.com" TargetMode="External"/><Relationship Id="rId6" Type="http://schemas.openxmlformats.org/officeDocument/2006/relationships/hyperlink" Target="https://github.com/shalomeliy/ESOP" TargetMode="External"/><Relationship Id="rId8" Type="http://schemas.openxmlformats.org/officeDocument/2006/relationships/hyperlink" Target="file:///C:/Users/Shalom/Desktop/%D7%A7%D7%95%D7%A8%D7%95%D7%AA%20%D7%97%D7%99%D7%99%D7%9D%202026/Shalom%20Eliyahu%20-%20CV...pdf" TargetMode="External"/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7" Type="http://schemas.openxmlformats.org/officeDocument/2006/relationships/image" Target="../media/image-2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4.png"/><Relationship Id="rId6" Type="http://schemas.openxmlformats.org/officeDocument/2006/relationships/image" Target="../media/image-11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ESOP Enterprise Engine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15468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Testbed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80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Backend ומעבדת תרגול לניהול הענקות אופציות ו-RSU</a:t>
            </a:r>
            <a:endParaRPr lang="he-IL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34340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מיסוי, נאמנות וסימולציה — תחת מנוע דטרמיניסטי אחד</a:t>
            </a:r>
            <a:endParaRPr lang="he-IL" sz="1400" dirty="0"/>
          </a:p>
        </p:txBody>
      </p:sp>
      <p:sp>
        <p:nvSpPr>
          <p:cNvPr id="6" name="Shape 4"/>
          <p:cNvSpPr/>
          <p:nvPr/>
        </p:nvSpPr>
        <p:spPr>
          <a:xfrm>
            <a:off x="4905756" y="51206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05756" y="5120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2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סקירת פרויקט · גרסה 1.2.0</a:t>
            </a:r>
            <a:endParaRPr lang="he-IL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בנה את זה</a:t>
            </a:r>
            <a:endParaRPr lang="he-IL" sz="3000" dirty="0"/>
          </a:p>
        </p:txBody>
      </p:sp>
      <p:pic>
        <p:nvPicPr>
          <p:cNvPr id="3" name="Image 0" descr="C:\Users\Shalom\AppData\Local\Temp\claude\C--Users-Shalom-ESOP\4eb46ef2-3f76-4293-8df6-235ea69e2562\scratchpad\esop_deck\assets\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2468880" cy="2468880"/>
          </a:xfrm>
          <a:prstGeom prst="ellipse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1737360"/>
            <a:ext cx="2468880" cy="2468880"/>
          </a:xfrm>
          <a:prstGeom prst="ellipse">
            <a:avLst/>
          </a:prstGeom>
          <a:ln w="31750">
            <a:solidFill>
              <a:srgbClr val="29D3C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749040" y="1645920"/>
            <a:ext cx="7616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שלום אליהו</a:t>
            </a:r>
            <a:endParaRPr lang="he-IL" sz="2600" dirty="0"/>
          </a:p>
        </p:txBody>
      </p:sp>
      <p:sp>
        <p:nvSpPr>
          <p:cNvPr id="6" name="Shape 3"/>
          <p:cNvSpPr/>
          <p:nvPr/>
        </p:nvSpPr>
        <p:spPr>
          <a:xfrm>
            <a:off x="9811512" y="2212848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D2B28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811512" y="22128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Builder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982712" y="2212848"/>
            <a:ext cx="1645920" cy="384048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3A425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82712" y="22128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Engineer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749040" y="2880360"/>
            <a:ext cx="7616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135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מהנדס QA בתעשיית ההייטק — Rakuten Viber, AT&amp;T, ומערכות בקרה ופיקוד מולטי-דיסציפלינריות. בשנה האחרונה מרחיב את הכלים לכיוון בניית מוצרים מקצה לקצה בעזרת AI: מפרט, קוד, בדיקות ושחרור.</a:t>
            </a:r>
            <a:endParaRPr lang="he-IL" sz="1350" dirty="0"/>
          </a:p>
        </p:txBody>
      </p:sp>
      <p:sp>
        <p:nvSpPr>
          <p:cNvPr id="11" name="Shape 8"/>
          <p:cNvSpPr/>
          <p:nvPr/>
        </p:nvSpPr>
        <p:spPr>
          <a:xfrm>
            <a:off x="1866519" y="4480560"/>
            <a:ext cx="548640" cy="54864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12" name="Image 1" descr="C:\Users\Shalom\AppData\Local\Temp\claude\C--Users-Shalom-ESOP\4eb46ef2-3f76-4293-8df6-235ea69e2562\scratchpad\esop_deck\icons\envelop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193" y="46122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4400" y="5138928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אימייל</a:t>
            </a:r>
            <a:endParaRPr lang="he-IL" sz="1000" dirty="0"/>
          </a:p>
        </p:txBody>
      </p:sp>
      <p:sp>
        <p:nvSpPr>
          <p:cNvPr id="14" name="Text 10">
            <a:hlinkClick r:id="rId3" tooltip=""/>
          </p:cNvPr>
          <p:cNvSpPr/>
          <p:nvPr/>
        </p:nvSpPr>
        <p:spPr>
          <a:xfrm>
            <a:off x="914400" y="5413248"/>
            <a:ext cx="24528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shalom.eliy@gmail.com</a:t>
            </a:r>
            <a:endParaRPr lang="he-IL" sz="1100" dirty="0"/>
          </a:p>
        </p:txBody>
      </p:sp>
      <p:sp>
        <p:nvSpPr>
          <p:cNvPr id="15" name="Shape 11"/>
          <p:cNvSpPr/>
          <p:nvPr/>
        </p:nvSpPr>
        <p:spPr>
          <a:xfrm>
            <a:off x="4502277" y="4480560"/>
            <a:ext cx="548640" cy="54864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16" name="Image 2" descr="C:\Users\Shalom\AppData\Local\Temp\claude\C--Users-Shalom-ESOP\4eb46ef2-3f76-4293-8df6-235ea69e2562\scratchpad\esop_deck\icons\phon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951" y="46122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50158" y="5138928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טלפון</a:t>
            </a:r>
            <a:endParaRPr lang="he-IL" sz="1000" dirty="0"/>
          </a:p>
        </p:txBody>
      </p:sp>
      <p:sp>
        <p:nvSpPr>
          <p:cNvPr id="18" name="Text 13"/>
          <p:cNvSpPr/>
          <p:nvPr/>
        </p:nvSpPr>
        <p:spPr>
          <a:xfrm>
            <a:off x="3550158" y="5413248"/>
            <a:ext cx="24528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053-575-7057</a:t>
            </a:r>
            <a:endParaRPr lang="he-IL" sz="1100" dirty="0"/>
          </a:p>
        </p:txBody>
      </p:sp>
      <p:sp>
        <p:nvSpPr>
          <p:cNvPr id="19" name="Shape 14"/>
          <p:cNvSpPr/>
          <p:nvPr/>
        </p:nvSpPr>
        <p:spPr>
          <a:xfrm>
            <a:off x="7138035" y="4480560"/>
            <a:ext cx="548640" cy="54864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20" name="Image 3" descr="C:\Users\Shalom\AppData\Local\Temp\claude\C--Users-Shalom-ESOP\4eb46ef2-3f76-4293-8df6-235ea69e2562\scratchpad\esop_deck\icons\github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709" y="461223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85916" y="5138928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ריפו הפרויקט</a:t>
            </a:r>
            <a:endParaRPr lang="he-IL" sz="1000" dirty="0"/>
          </a:p>
        </p:txBody>
      </p:sp>
      <p:sp>
        <p:nvSpPr>
          <p:cNvPr id="22" name="Text 16">
            <a:hlinkClick r:id="rId6" tooltip=""/>
          </p:cNvPr>
          <p:cNvSpPr/>
          <p:nvPr/>
        </p:nvSpPr>
        <p:spPr>
          <a:xfrm>
            <a:off x="6185916" y="5413248"/>
            <a:ext cx="24528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he-IL" sz="1100" dirty="0"/>
          </a:p>
        </p:txBody>
      </p:sp>
      <p:sp>
        <p:nvSpPr>
          <p:cNvPr id="23" name="Shape 17"/>
          <p:cNvSpPr/>
          <p:nvPr/>
        </p:nvSpPr>
        <p:spPr>
          <a:xfrm>
            <a:off x="9773793" y="4480560"/>
            <a:ext cx="548640" cy="54864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24" name="Image 4" descr="C:\Users\Shalom\AppData\Local\Temp\claude\C--Users-Shalom-ESOP\4eb46ef2-3f76-4293-8df6-235ea69e2562\scratchpad\esop_deck\icons\file_tea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5467" y="4612234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21674" y="5138928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קורות חיים</a:t>
            </a:r>
            <a:endParaRPr lang="he-IL" sz="1000" dirty="0"/>
          </a:p>
        </p:txBody>
      </p:sp>
      <p:sp>
        <p:nvSpPr>
          <p:cNvPr id="26" name="Text 19">
            <a:hlinkClick r:id="rId8" tooltip=""/>
          </p:cNvPr>
          <p:cNvSpPr/>
          <p:nvPr/>
        </p:nvSpPr>
        <p:spPr>
          <a:xfrm>
            <a:off x="8821674" y="5413248"/>
            <a:ext cx="24528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פתח PDF</a:t>
            </a:r>
            <a:endParaRPr lang="he-IL" sz="1100" dirty="0"/>
          </a:p>
        </p:txBody>
      </p:sp>
      <p:sp>
        <p:nvSpPr>
          <p:cNvPr id="27" name="Text 2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he-IL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מאיפה זה התחיל</a:t>
            </a:r>
            <a:endParaRPr lang="he-IL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he-IL" altLang="en-US" sz="140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בעקבות ריאיון עבודה בחברה שמפתחת מוצר ESOP דומה, עלה הרעיון לבנות מערכת עצמאית — לא כדי להתחרות, אלא כשדה תרגול QA אמיתי.</a:t>
            </a:r>
            <a:endParaRPr lang="he-IL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2395728" cy="3017520"/>
          </a:xfrm>
          <a:prstGeom prst="roundRect">
            <a:avLst>
              <a:gd name="adj" fmla="val 4580"/>
            </a:avLst>
          </a:prstGeom>
          <a:solidFill>
            <a:srgbClr val="1E2530"/>
          </a:solidFill>
          <a:ln/>
        </p:spPr>
      </p:sp>
      <p:sp>
        <p:nvSpPr>
          <p:cNvPr id="5" name="Shape 3"/>
          <p:cNvSpPr/>
          <p:nvPr/>
        </p:nvSpPr>
        <p:spPr>
          <a:xfrm>
            <a:off x="1609344" y="274320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9344" y="27432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4</a:t>
            </a:r>
            <a:endParaRPr lang="he-IL" sz="1100" dirty="0"/>
          </a:p>
        </p:txBody>
      </p:sp>
      <p:sp>
        <p:nvSpPr>
          <p:cNvPr id="7" name="Shape 5"/>
          <p:cNvSpPr/>
          <p:nvPr/>
        </p:nvSpPr>
        <p:spPr>
          <a:xfrm>
            <a:off x="1632204" y="3314700"/>
            <a:ext cx="777240" cy="777240"/>
          </a:xfrm>
          <a:prstGeom prst="ellipse">
            <a:avLst/>
          </a:prstGeom>
          <a:solidFill>
            <a:srgbClr val="232B38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8" name="Image 0" descr="C:\Users\Shalom\AppData\Local\Temp\claude\C--Users-Shalom-ESOP\4eb46ef2-3f76-4293-8df6-235ea69e2562\scratchpad\esop_deck\icons\bug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8742" y="3501238"/>
            <a:ext cx="404165" cy="4041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2519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</a:t>
            </a:r>
            <a:endParaRPr lang="he-IL" sz="1400" dirty="0"/>
          </a:p>
        </p:txBody>
      </p:sp>
      <p:sp>
        <p:nvSpPr>
          <p:cNvPr id="10" name="Text 7"/>
          <p:cNvSpPr/>
          <p:nvPr/>
        </p:nvSpPr>
        <p:spPr>
          <a:xfrm>
            <a:off x="960120" y="46177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תקלות וחשיבה על מקרי קצה נוספים</a:t>
            </a:r>
            <a:endParaRPr lang="he-IL" sz="1000" dirty="0"/>
          </a:p>
        </p:txBody>
      </p:sp>
      <p:sp>
        <p:nvSpPr>
          <p:cNvPr id="11" name="Text 8"/>
          <p:cNvSpPr/>
          <p:nvPr/>
        </p:nvSpPr>
        <p:spPr>
          <a:xfrm>
            <a:off x="3218688" y="2468880"/>
            <a:ext cx="320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538728" y="2468880"/>
            <a:ext cx="2395728" cy="3017520"/>
          </a:xfrm>
          <a:prstGeom prst="roundRect">
            <a:avLst>
              <a:gd name="adj" fmla="val 4580"/>
            </a:avLst>
          </a:prstGeom>
          <a:solidFill>
            <a:srgbClr val="1E2530"/>
          </a:solidFill>
          <a:ln/>
        </p:spPr>
      </p:sp>
      <p:sp>
        <p:nvSpPr>
          <p:cNvPr id="13" name="Shape 10"/>
          <p:cNvSpPr/>
          <p:nvPr/>
        </p:nvSpPr>
        <p:spPr>
          <a:xfrm>
            <a:off x="4325112" y="274320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5112" y="27432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3</a:t>
            </a:r>
            <a:endParaRPr lang="he-IL" sz="1100" dirty="0"/>
          </a:p>
        </p:txBody>
      </p:sp>
      <p:sp>
        <p:nvSpPr>
          <p:cNvPr id="15" name="Shape 12"/>
          <p:cNvSpPr/>
          <p:nvPr/>
        </p:nvSpPr>
        <p:spPr>
          <a:xfrm>
            <a:off x="4347972" y="3314700"/>
            <a:ext cx="777240" cy="777240"/>
          </a:xfrm>
          <a:prstGeom prst="ellipse">
            <a:avLst/>
          </a:prstGeom>
          <a:solidFill>
            <a:srgbClr val="232B38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16" name="Image 1" descr="C:\Users\Shalom\AppData\Local\Temp\claude\C--Users-Shalom-ESOP\4eb46ef2-3f76-4293-8df6-235ea69e2562\scratchpad\esop_deck\icons\toolbox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510" y="3501238"/>
            <a:ext cx="404165" cy="40416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75888" y="42519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בנייה</a:t>
            </a:r>
            <a:endParaRPr lang="he-IL" sz="1400" dirty="0"/>
          </a:p>
        </p:txBody>
      </p:sp>
      <p:sp>
        <p:nvSpPr>
          <p:cNvPr id="18" name="Text 14"/>
          <p:cNvSpPr/>
          <p:nvPr/>
        </p:nvSpPr>
        <p:spPr>
          <a:xfrm>
            <a:off x="3675888" y="46177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מלאה עם דאטהבייס אמיתי ותרחישים מגוונים</a:t>
            </a:r>
            <a:endParaRPr lang="he-IL" sz="1000" dirty="0"/>
          </a:p>
        </p:txBody>
      </p:sp>
      <p:sp>
        <p:nvSpPr>
          <p:cNvPr id="19" name="Text 15"/>
          <p:cNvSpPr/>
          <p:nvPr/>
        </p:nvSpPr>
        <p:spPr>
          <a:xfrm>
            <a:off x="5934456" y="2468880"/>
            <a:ext cx="320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254496" y="2468880"/>
            <a:ext cx="2395728" cy="3017520"/>
          </a:xfrm>
          <a:prstGeom prst="roundRect">
            <a:avLst>
              <a:gd name="adj" fmla="val 4580"/>
            </a:avLst>
          </a:prstGeom>
          <a:solidFill>
            <a:srgbClr val="1E2530"/>
          </a:solidFill>
          <a:ln/>
        </p:spPr>
      </p:sp>
      <p:sp>
        <p:nvSpPr>
          <p:cNvPr id="21" name="Shape 17"/>
          <p:cNvSpPr/>
          <p:nvPr/>
        </p:nvSpPr>
        <p:spPr>
          <a:xfrm>
            <a:off x="7040880" y="274320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040880" y="27432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2</a:t>
            </a:r>
            <a:endParaRPr lang="he-IL" sz="1100" dirty="0"/>
          </a:p>
        </p:txBody>
      </p:sp>
      <p:sp>
        <p:nvSpPr>
          <p:cNvPr id="23" name="Shape 19"/>
          <p:cNvSpPr/>
          <p:nvPr/>
        </p:nvSpPr>
        <p:spPr>
          <a:xfrm>
            <a:off x="7063740" y="3314700"/>
            <a:ext cx="777240" cy="777240"/>
          </a:xfrm>
          <a:prstGeom prst="ellipse">
            <a:avLst/>
          </a:prstGeom>
          <a:solidFill>
            <a:srgbClr val="232B38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24" name="Image 2" descr="C:\Users\Shalom\AppData\Local\Temp\claude\C--Users-Shalom-ESOP\4eb46ef2-3f76-4293-8df6-235ea69e2562\scratchpad\esop_deck\icons\route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278" y="3501238"/>
            <a:ext cx="404165" cy="404165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91656" y="42519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החלטה</a:t>
            </a:r>
            <a:endParaRPr lang="he-IL" sz="1400" dirty="0"/>
          </a:p>
        </p:txBody>
      </p:sp>
      <p:sp>
        <p:nvSpPr>
          <p:cNvPr id="26" name="Text 21"/>
          <p:cNvSpPr/>
          <p:nvPr/>
        </p:nvSpPr>
        <p:spPr>
          <a:xfrm>
            <a:off x="6391656" y="46177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לבנות מערכת עצמאית לתרגול QA</a:t>
            </a:r>
            <a:endParaRPr lang="he-IL" sz="1000" dirty="0"/>
          </a:p>
        </p:txBody>
      </p:sp>
      <p:sp>
        <p:nvSpPr>
          <p:cNvPr id="27" name="Text 22"/>
          <p:cNvSpPr/>
          <p:nvPr/>
        </p:nvSpPr>
        <p:spPr>
          <a:xfrm>
            <a:off x="8650224" y="2468880"/>
            <a:ext cx="320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8970264" y="2468880"/>
            <a:ext cx="2395728" cy="3017520"/>
          </a:xfrm>
          <a:prstGeom prst="roundRect">
            <a:avLst>
              <a:gd name="adj" fmla="val 4580"/>
            </a:avLst>
          </a:prstGeom>
          <a:solidFill>
            <a:srgbClr val="1E2530"/>
          </a:solidFill>
          <a:ln/>
        </p:spPr>
      </p:sp>
      <p:sp>
        <p:nvSpPr>
          <p:cNvPr id="29" name="Shape 24"/>
          <p:cNvSpPr/>
          <p:nvPr/>
        </p:nvSpPr>
        <p:spPr>
          <a:xfrm>
            <a:off x="9756648" y="274320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756648" y="274320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שלב 1</a:t>
            </a:r>
            <a:endParaRPr lang="he-IL" sz="1100" dirty="0"/>
          </a:p>
        </p:txBody>
      </p:sp>
      <p:sp>
        <p:nvSpPr>
          <p:cNvPr id="31" name="Shape 26"/>
          <p:cNvSpPr/>
          <p:nvPr/>
        </p:nvSpPr>
        <p:spPr>
          <a:xfrm>
            <a:off x="9779508" y="3314700"/>
            <a:ext cx="777240" cy="777240"/>
          </a:xfrm>
          <a:prstGeom prst="ellipse">
            <a:avLst/>
          </a:prstGeom>
          <a:solidFill>
            <a:srgbClr val="232B38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32" name="Image 3" descr="C:\Users\Shalom\AppData\Local\Temp\claude\C--Users-Shalom-ESOP\4eb46ef2-3f76-4293-8df6-235ea69e2562\scratchpad\esop_deck\icons\search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046" y="3501238"/>
            <a:ext cx="404165" cy="40416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07424" y="425196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ריאיון עבודה</a:t>
            </a:r>
            <a:endParaRPr lang="he-IL" sz="1400" dirty="0"/>
          </a:p>
        </p:txBody>
      </p:sp>
      <p:sp>
        <p:nvSpPr>
          <p:cNvPr id="34" name="Text 28"/>
          <p:cNvSpPr/>
          <p:nvPr/>
        </p:nvSpPr>
        <p:spPr>
          <a:xfrm>
            <a:off x="9107424" y="4617720"/>
            <a:ext cx="212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בחברה שמפתחת מוצר ESOP דומה</a:t>
            </a:r>
            <a:endParaRPr lang="he-IL" sz="1000" dirty="0"/>
          </a:p>
        </p:txBody>
      </p:sp>
      <p:sp>
        <p:nvSpPr>
          <p:cNvPr id="35" name="Text 29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he-IL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זה נבנה — עם צוות של סוכני AI</a:t>
            </a:r>
            <a:endParaRPr lang="he-IL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35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שינוי עובר תכנון, מימוש וסקירה עצמאית של סוכן ייעודי — לפני שהוא נכנס לקוד.</a:t>
            </a:r>
            <a:endParaRPr lang="he-IL" sz="135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סוכני AI ייעודיים</a:t>
            </a:r>
            <a:endParaRPr lang="he-IL" sz="1200" dirty="0"/>
          </a:p>
        </p:txBody>
      </p:sp>
      <p:sp>
        <p:nvSpPr>
          <p:cNvPr id="6" name="Shape 4"/>
          <p:cNvSpPr/>
          <p:nvPr/>
        </p:nvSpPr>
        <p:spPr>
          <a:xfrm>
            <a:off x="1211580" y="4000500"/>
            <a:ext cx="502920" cy="50292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7" name="Image 0" descr="C:\Users\Shalom\AppData\Local\Temp\claude\C--Users-Shalom-ESOP\4eb46ef2-3f76-4293-8df6-235ea69e2562\scratchpad\esop_deck\icons\toolbox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281" y="412120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בונים</a:t>
            </a:r>
            <a:endParaRPr lang="he-IL" sz="1250" dirty="0"/>
          </a:p>
        </p:txBody>
      </p:sp>
      <p:sp>
        <p:nvSpPr>
          <p:cNvPr id="9" name="Text 6"/>
          <p:cNvSpPr/>
          <p:nvPr/>
        </p:nvSpPr>
        <p:spPr>
          <a:xfrm>
            <a:off x="1828800" y="4251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he-IL" altLang="en-US" sz="9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backend, database, frontend, integration, reporting, security, builder</a:t>
            </a:r>
            <a:endParaRPr lang="he-IL" sz="900" dirty="0"/>
          </a:p>
        </p:txBody>
      </p:sp>
      <p:sp>
        <p:nvSpPr>
          <p:cNvPr id="10" name="Shape 7"/>
          <p:cNvSpPr/>
          <p:nvPr/>
        </p:nvSpPr>
        <p:spPr>
          <a:xfrm>
            <a:off x="1211580" y="4777740"/>
            <a:ext cx="502920" cy="50292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11" name="Image 1" descr="C:\Users\Shalom\AppData\Local\Temp\claude\C--Users-Shalom-ESOP\4eb46ef2-3f76-4293-8df6-235ea69e2562\scratchpad\esop_deck\icons\search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281" y="48984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מייעצים ובודקים</a:t>
            </a:r>
            <a:endParaRPr lang="he-IL" sz="1250" dirty="0"/>
          </a:p>
        </p:txBody>
      </p:sp>
      <p:sp>
        <p:nvSpPr>
          <p:cNvPr id="13" name="Text 9"/>
          <p:cNvSpPr/>
          <p:nvPr/>
        </p:nvSpPr>
        <p:spPr>
          <a:xfrm>
            <a:off x="1828800" y="5029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he-IL" altLang="en-US" sz="9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architecture, design, UX, QA, מס, אבטחה + סקירת שינויים</a:t>
            </a:r>
            <a:endParaRPr lang="he-IL" sz="900" dirty="0"/>
          </a:p>
        </p:txBody>
      </p:sp>
      <p:sp>
        <p:nvSpPr>
          <p:cNvPr id="14" name="Shape 10"/>
          <p:cNvSpPr/>
          <p:nvPr/>
        </p:nvSpPr>
        <p:spPr>
          <a:xfrm>
            <a:off x="1211580" y="5554980"/>
            <a:ext cx="502920" cy="50292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15" name="Image 2" descr="C:\Users\Shalom\AppData\Local\Temp\claude\C--Users-Shalom-ESOP\4eb46ef2-3f76-4293-8df6-235ea69e2562\scratchpad\esop_deck\icons\chec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281" y="567568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משחרר</a:t>
            </a:r>
            <a:endParaRPr lang="he-IL" sz="1250" dirty="0"/>
          </a:p>
        </p:txBody>
      </p:sp>
      <p:sp>
        <p:nvSpPr>
          <p:cNvPr id="17" name="Text 12"/>
          <p:cNvSpPr/>
          <p:nvPr/>
        </p:nvSpPr>
        <p:spPr>
          <a:xfrm>
            <a:off x="1828800" y="5806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he-IL" altLang="en-US" sz="9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release-manager — היחיד שרשאי למזג לגרסה</a:t>
            </a:r>
            <a:endParaRPr lang="he-IL" sz="900" dirty="0"/>
          </a:p>
        </p:txBody>
      </p:sp>
      <p:sp>
        <p:nvSpPr>
          <p:cNvPr id="18" name="Text 13"/>
          <p:cNvSpPr/>
          <p:nvPr/>
        </p:nvSpPr>
        <p:spPr>
          <a:xfrm>
            <a:off x="6446520" y="1874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סקילים ייעודיים לתהליך</a:t>
            </a:r>
            <a:endParaRPr lang="he-IL" sz="1400" dirty="0"/>
          </a:p>
        </p:txBody>
      </p:sp>
      <p:sp>
        <p:nvSpPr>
          <p:cNvPr id="19" name="Shape 14"/>
          <p:cNvSpPr/>
          <p:nvPr/>
        </p:nvSpPr>
        <p:spPr>
          <a:xfrm>
            <a:off x="6446520" y="2377440"/>
            <a:ext cx="4937760" cy="3749040"/>
          </a:xfrm>
          <a:prstGeom prst="roundRect">
            <a:avLst>
              <a:gd name="adj" fmla="val 2927"/>
            </a:avLst>
          </a:prstGeom>
          <a:solidFill>
            <a:srgbClr val="1E2530"/>
          </a:solidFill>
          <a:ln/>
        </p:spPr>
      </p:sp>
      <p:sp>
        <p:nvSpPr>
          <p:cNvPr id="20" name="Text 15"/>
          <p:cNvSpPr/>
          <p:nvPr/>
        </p:nvSpPr>
        <p:spPr>
          <a:xfrm>
            <a:off x="6675120" y="2578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write-feature-spec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675120" y="287121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5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הופך בקשה עמומה למפרט מבוסס-ראיות</a:t>
            </a:r>
            <a:endParaRPr lang="he-IL" sz="1050" dirty="0"/>
          </a:p>
        </p:txBody>
      </p:sp>
      <p:sp>
        <p:nvSpPr>
          <p:cNvPr id="22" name="Text 17"/>
          <p:cNvSpPr/>
          <p:nvPr/>
        </p:nvSpPr>
        <p:spPr>
          <a:xfrm>
            <a:off x="6675120" y="32735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architecture-plan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675120" y="3566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5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הופך מפרט מאושר לתוכנית מימוש הפיכה</a:t>
            </a:r>
            <a:endParaRPr lang="he-IL" sz="1050" dirty="0"/>
          </a:p>
        </p:txBody>
      </p:sp>
      <p:sp>
        <p:nvSpPr>
          <p:cNvPr id="24" name="Text 19"/>
          <p:cNvSpPr/>
          <p:nvPr/>
        </p:nvSpPr>
        <p:spPr>
          <a:xfrm>
            <a:off x="6675120" y="39684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ui-ux-review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675120" y="426110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5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מיישם מומחיות UX על שלושת הפורטלים</a:t>
            </a:r>
            <a:endParaRPr lang="he-IL" sz="1050" dirty="0"/>
          </a:p>
        </p:txBody>
      </p:sp>
      <p:sp>
        <p:nvSpPr>
          <p:cNvPr id="26" name="Text 21"/>
          <p:cNvSpPr/>
          <p:nvPr/>
        </p:nvSpPr>
        <p:spPr>
          <a:xfrm>
            <a:off x="6675120" y="4663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drop-generic-design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675120" y="49560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5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מסיר דפוסי עיצוב גנריים של AI</a:t>
            </a:r>
            <a:endParaRPr lang="he-IL" sz="1050" dirty="0"/>
          </a:p>
        </p:txBody>
      </p:sp>
      <p:sp>
        <p:nvSpPr>
          <p:cNvPr id="28" name="Text 23"/>
          <p:cNvSpPr/>
          <p:nvPr/>
        </p:nvSpPr>
        <p:spPr>
          <a:xfrm>
            <a:off x="6675120" y="53583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loop-engineering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675120" y="56509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05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מריץ פיצ'ר בלולאת בנייה-בדיקה-סקירה חסומה</a:t>
            </a:r>
            <a:endParaRPr lang="he-IL" sz="1050" dirty="0"/>
          </a:p>
        </p:txBody>
      </p:sp>
      <p:sp>
        <p:nvSpPr>
          <p:cNvPr id="30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he-IL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42316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80076" y="2423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1</a:t>
            </a:r>
            <a:endParaRPr lang="he-IL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306324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הפרויקט הזה קיים</a:t>
            </a:r>
            <a:endParaRPr lang="he-IL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 שלא משתנה, והפער שהיא סוגרת</a:t>
            </a:r>
            <a:endParaRPr lang="he-IL" sz="1600" dirty="0"/>
          </a:p>
        </p:txBody>
      </p:sp>
      <p:sp>
        <p:nvSpPr>
          <p:cNvPr id="6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he-IL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לבנות את מערכת התגמול ההוני הטובה בעולם</a:t>
            </a:r>
            <a:endParaRPr lang="he-IL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he-IL" altLang="en-US" sz="150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השוק היום מפוצל: שחקן מדויק בארצות וחלש באירופה, שחקן חזק באירופה בלי 409A, שחקן ארגוני מסורבל, ונאמן ישראלי שהוא שירות ולא תוכנה. כל חברה חוצת-גבולות מפעילה כמה פתרונות במקביל ומחברת ביניהן ידנית בגיליון אקסל.</a:t>
            </a:r>
            <a:endParaRPr lang="he-IL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10543032" cy="1737360"/>
          </a:xfrm>
          <a:prstGeom prst="roundRect">
            <a:avLst>
              <a:gd name="adj" fmla="val 6316"/>
            </a:avLst>
          </a:prstGeom>
          <a:solidFill>
            <a:srgbClr val="1E2530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971800"/>
            <a:ext cx="9902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he-IL" alt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מערכת אחת שהיא גם מדויקת בכל תחום שיפוט, גם ניתנת להוכחה לאחור על כל מספר, גם מובנת לעובד שצריך להחליט — וגם לא נועלת את הלקוח.</a:t>
            </a:r>
            <a:endParaRPr lang="he-IL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754880"/>
            <a:ext cx="3331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לחברה</a:t>
            </a:r>
            <a:endParaRPr lang="he-IL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3331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המספרים נכונים, הדיווחים יוצאים בזמן</a:t>
            </a:r>
            <a:endParaRPr lang="he-IL" sz="1150" dirty="0"/>
          </a:p>
        </p:txBody>
      </p:sp>
      <p:sp>
        <p:nvSpPr>
          <p:cNvPr id="8" name="Text 6"/>
          <p:cNvSpPr/>
          <p:nvPr/>
        </p:nvSpPr>
        <p:spPr>
          <a:xfrm>
            <a:off x="4428744" y="4754880"/>
            <a:ext cx="3331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לעובד</a:t>
            </a:r>
            <a:endParaRPr lang="he-IL" sz="1400" dirty="0"/>
          </a:p>
        </p:txBody>
      </p:sp>
      <p:sp>
        <p:nvSpPr>
          <p:cNvPr id="9" name="Text 7"/>
          <p:cNvSpPr/>
          <p:nvPr/>
        </p:nvSpPr>
        <p:spPr>
          <a:xfrm>
            <a:off x="4428744" y="5120640"/>
            <a:ext cx="3331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יודע מה שווה, מה זה יעלה לו במס</a:t>
            </a:r>
            <a:endParaRPr lang="he-IL" sz="1150" dirty="0"/>
          </a:p>
        </p:txBody>
      </p:sp>
      <p:sp>
        <p:nvSpPr>
          <p:cNvPr id="10" name="Text 8"/>
          <p:cNvSpPr/>
          <p:nvPr/>
        </p:nvSpPr>
        <p:spPr>
          <a:xfrm>
            <a:off x="8034528" y="4754880"/>
            <a:ext cx="3331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4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לנאמן ולמבקר</a:t>
            </a:r>
            <a:endParaRPr lang="he-IL" sz="1400" dirty="0"/>
          </a:p>
        </p:txBody>
      </p:sp>
      <p:sp>
        <p:nvSpPr>
          <p:cNvPr id="11" name="Text 9"/>
          <p:cNvSpPr/>
          <p:nvPr/>
        </p:nvSpPr>
        <p:spPr>
          <a:xfrm>
            <a:off x="8034528" y="5120640"/>
            <a:ext cx="3331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1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מספר ניתן לפתיחה עד למקור</a:t>
            </a:r>
            <a:endParaRPr lang="he-IL" sz="1150" dirty="0"/>
          </a:p>
        </p:txBody>
      </p:sp>
      <p:sp>
        <p:nvSpPr>
          <p:cNvPr id="12" name="Text 1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he-IL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שבור בשוק, ומה המערכת מתחייבת לעשות טוב יותר</a:t>
            </a:r>
            <a:endParaRPr lang="he-IL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הכשל בשוק</a:t>
            </a:r>
            <a:endParaRPr lang="he-IL" sz="1400" dirty="0"/>
          </a:p>
        </p:txBody>
      </p:sp>
      <p:sp>
        <p:nvSpPr>
          <p:cNvPr id="4" name="Text 2"/>
          <p:cNvSpPr/>
          <p:nvPr/>
        </p:nvSpPr>
        <p:spPr>
          <a:xfrm>
            <a:off x="644652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המחויבות שלנו</a:t>
            </a:r>
            <a:endParaRPr lang="he-IL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4937760" cy="859536"/>
          </a:xfrm>
          <a:prstGeom prst="roundRect">
            <a:avLst>
              <a:gd name="adj" fmla="val 12766"/>
            </a:avLst>
          </a:prstGeom>
          <a:solidFill>
            <a:srgbClr val="1E2530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874520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25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טבלאות הון שבורות: שגיאות הבשלה הן הנפוצות ביותר</a:t>
            </a:r>
            <a:endParaRPr lang="he-IL" sz="1250" dirty="0"/>
          </a:p>
        </p:txBody>
      </p:sp>
      <p:sp>
        <p:nvSpPr>
          <p:cNvPr id="7" name="Shape 5"/>
          <p:cNvSpPr/>
          <p:nvPr/>
        </p:nvSpPr>
        <p:spPr>
          <a:xfrm>
            <a:off x="6446520" y="1874520"/>
            <a:ext cx="4937760" cy="859536"/>
          </a:xfrm>
          <a:prstGeom prst="roundRect">
            <a:avLst>
              <a:gd name="adj" fmla="val 12766"/>
            </a:avLst>
          </a:prstGeom>
          <a:solidFill>
            <a:srgbClr val="1B3D3A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1874520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250" b="1" dirty="0">
                <a:solidFill>
                  <a:srgbClr val="CF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מבוסס-אירועים: מצב הוא תוצר חישוב, לא שדה שנערך</a:t>
            </a:r>
            <a:endParaRPr lang="he-IL" sz="1250" dirty="0"/>
          </a:p>
        </p:txBody>
      </p:sp>
      <p:sp>
        <p:nvSpPr>
          <p:cNvPr id="9" name="Text 7"/>
          <p:cNvSpPr/>
          <p:nvPr/>
        </p:nvSpPr>
        <p:spPr>
          <a:xfrm>
            <a:off x="5806440" y="1874520"/>
            <a:ext cx="640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898648"/>
            <a:ext cx="4937760" cy="859536"/>
          </a:xfrm>
          <a:prstGeom prst="roundRect">
            <a:avLst>
              <a:gd name="adj" fmla="val 12766"/>
            </a:avLst>
          </a:prstGeom>
          <a:solidFill>
            <a:srgbClr val="1E253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898648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25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FMV מיושן שיוצר סיכון מס אמיתי לעובד</a:t>
            </a:r>
            <a:endParaRPr lang="he-IL" sz="1250" dirty="0"/>
          </a:p>
        </p:txBody>
      </p:sp>
      <p:sp>
        <p:nvSpPr>
          <p:cNvPr id="12" name="Shape 10"/>
          <p:cNvSpPr/>
          <p:nvPr/>
        </p:nvSpPr>
        <p:spPr>
          <a:xfrm>
            <a:off x="6446520" y="2898648"/>
            <a:ext cx="4937760" cy="859536"/>
          </a:xfrm>
          <a:prstGeom prst="roundRect">
            <a:avLst>
              <a:gd name="adj" fmla="val 12766"/>
            </a:avLst>
          </a:prstGeom>
          <a:solidFill>
            <a:srgbClr val="1B3D3A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898648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250" b="1" dirty="0">
                <a:solidFill>
                  <a:srgbClr val="CF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תוקף נאכף: הענקה על הערכה שפגה תוקפה — חסומה</a:t>
            </a:r>
            <a:endParaRPr lang="he-IL" sz="1250" dirty="0"/>
          </a:p>
        </p:txBody>
      </p:sp>
      <p:sp>
        <p:nvSpPr>
          <p:cNvPr id="14" name="Text 12"/>
          <p:cNvSpPr/>
          <p:nvPr/>
        </p:nvSpPr>
        <p:spPr>
          <a:xfrm>
            <a:off x="5806440" y="2898648"/>
            <a:ext cx="640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922776"/>
            <a:ext cx="4937760" cy="859536"/>
          </a:xfrm>
          <a:prstGeom prst="roundRect">
            <a:avLst>
              <a:gd name="adj" fmla="val 12766"/>
            </a:avLst>
          </a:prstGeom>
          <a:solidFill>
            <a:srgbClr val="1E2530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922776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25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כללים קבועים בקוד: כל שינוי רגולציה דורש גרסה חדשה</a:t>
            </a:r>
            <a:endParaRPr lang="he-IL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3922776"/>
            <a:ext cx="4937760" cy="859536"/>
          </a:xfrm>
          <a:prstGeom prst="roundRect">
            <a:avLst>
              <a:gd name="adj" fmla="val 12766"/>
            </a:avLst>
          </a:prstGeom>
          <a:solidFill>
            <a:srgbClr val="1B3D3A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922776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250" b="1" dirty="0">
                <a:solidFill>
                  <a:srgbClr val="CF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 הוא דאטה מגורסת עם תאריך תוקף ומקור</a:t>
            </a:r>
            <a:endParaRPr lang="he-IL" sz="1250" dirty="0"/>
          </a:p>
        </p:txBody>
      </p:sp>
      <p:sp>
        <p:nvSpPr>
          <p:cNvPr id="19" name="Text 17"/>
          <p:cNvSpPr/>
          <p:nvPr/>
        </p:nvSpPr>
        <p:spPr>
          <a:xfrm>
            <a:off x="5806440" y="3922776"/>
            <a:ext cx="640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4946904"/>
            <a:ext cx="4937760" cy="859536"/>
          </a:xfrm>
          <a:prstGeom prst="roundRect">
            <a:avLst>
              <a:gd name="adj" fmla="val 12766"/>
            </a:avLst>
          </a:prstGeom>
          <a:solidFill>
            <a:srgbClr val="1E2530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4946904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25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ייצוא מוגבל או בתשלום: מיגרציה מכאיבה</a:t>
            </a:r>
            <a:endParaRPr lang="he-IL" sz="1250" dirty="0"/>
          </a:p>
        </p:txBody>
      </p:sp>
      <p:sp>
        <p:nvSpPr>
          <p:cNvPr id="22" name="Shape 20"/>
          <p:cNvSpPr/>
          <p:nvPr/>
        </p:nvSpPr>
        <p:spPr>
          <a:xfrm>
            <a:off x="6446520" y="4946904"/>
            <a:ext cx="4937760" cy="859536"/>
          </a:xfrm>
          <a:prstGeom prst="roundRect">
            <a:avLst>
              <a:gd name="adj" fmla="val 12766"/>
            </a:avLst>
          </a:prstGeom>
          <a:solidFill>
            <a:srgbClr val="1B3D3A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4946904"/>
            <a:ext cx="4480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250" b="1" dirty="0">
                <a:solidFill>
                  <a:srgbClr val="CF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ייצוא מלא ודוח התאמה, כתכונת ליבה</a:t>
            </a:r>
            <a:endParaRPr lang="he-IL" sz="1250" dirty="0"/>
          </a:p>
        </p:txBody>
      </p:sp>
      <p:sp>
        <p:nvSpPr>
          <p:cNvPr id="24" name="Text 22"/>
          <p:cNvSpPr/>
          <p:nvPr/>
        </p:nvSpPr>
        <p:spPr>
          <a:xfrm>
            <a:off x="5806440" y="4946904"/>
            <a:ext cx="640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he-IL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42316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80076" y="2423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2</a:t>
            </a:r>
            <a:endParaRPr lang="he-IL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306324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המערכת בנויה</a:t>
            </a:r>
            <a:endParaRPr lang="he-IL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 עמודות תשתית, וסטאק אחד שמריץ אותן</a:t>
            </a:r>
            <a:endParaRPr lang="he-IL" sz="1600" dirty="0"/>
          </a:p>
        </p:txBody>
      </p:sp>
      <p:sp>
        <p:nvSpPr>
          <p:cNvPr id="6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he-IL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ארכיטקטורת המערכת — מבט-על</a:t>
            </a:r>
            <a:endParaRPr lang="he-IL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331464" cy="640080"/>
          </a:xfrm>
          <a:prstGeom prst="roundRect">
            <a:avLst>
              <a:gd name="adj" fmla="val 17143"/>
            </a:avLst>
          </a:prstGeom>
          <a:solidFill>
            <a:srgbClr val="1E2530"/>
          </a:solidFill>
          <a:ln w="12700">
            <a:solidFill>
              <a:srgbClr val="2A33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08760"/>
            <a:ext cx="3148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פורטל אדמין</a:t>
            </a:r>
            <a:endParaRPr lang="he-IL" sz="1250" dirty="0"/>
          </a:p>
        </p:txBody>
      </p:sp>
      <p:sp>
        <p:nvSpPr>
          <p:cNvPr id="5" name="Shape 3"/>
          <p:cNvSpPr/>
          <p:nvPr/>
        </p:nvSpPr>
        <p:spPr>
          <a:xfrm>
            <a:off x="4428744" y="1508760"/>
            <a:ext cx="3331464" cy="640080"/>
          </a:xfrm>
          <a:prstGeom prst="roundRect">
            <a:avLst>
              <a:gd name="adj" fmla="val 17143"/>
            </a:avLst>
          </a:prstGeom>
          <a:solidFill>
            <a:srgbClr val="1E2530"/>
          </a:solidFill>
          <a:ln w="12700">
            <a:solidFill>
              <a:srgbClr val="2A3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20184" y="1508760"/>
            <a:ext cx="3148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פורטל עובד</a:t>
            </a:r>
            <a:endParaRPr lang="he-IL" sz="1250" dirty="0"/>
          </a:p>
        </p:txBody>
      </p:sp>
      <p:sp>
        <p:nvSpPr>
          <p:cNvPr id="7" name="Shape 5"/>
          <p:cNvSpPr/>
          <p:nvPr/>
        </p:nvSpPr>
        <p:spPr>
          <a:xfrm>
            <a:off x="8034528" y="1508760"/>
            <a:ext cx="3331464" cy="640080"/>
          </a:xfrm>
          <a:prstGeom prst="roundRect">
            <a:avLst>
              <a:gd name="adj" fmla="val 17143"/>
            </a:avLst>
          </a:prstGeom>
          <a:solidFill>
            <a:srgbClr val="1E2530"/>
          </a:solidFill>
          <a:ln w="12700">
            <a:solidFill>
              <a:srgbClr val="2A33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5968" y="1508760"/>
            <a:ext cx="3148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פורטל נאמן</a:t>
            </a:r>
            <a:endParaRPr lang="he-IL" sz="1250" dirty="0"/>
          </a:p>
        </p:txBody>
      </p:sp>
      <p:sp>
        <p:nvSpPr>
          <p:cNvPr id="9" name="Text 7"/>
          <p:cNvSpPr/>
          <p:nvPr/>
        </p:nvSpPr>
        <p:spPr>
          <a:xfrm>
            <a:off x="5820156" y="21671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2377440"/>
            <a:ext cx="10543032" cy="640080"/>
          </a:xfrm>
          <a:prstGeom prst="roundRect">
            <a:avLst>
              <a:gd name="adj" fmla="val 17143"/>
            </a:avLst>
          </a:prstGeom>
          <a:solidFill>
            <a:srgbClr val="1E2530"/>
          </a:solidFill>
          <a:ln w="12700">
            <a:solidFill>
              <a:srgbClr val="2A3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7744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/api/v1</a:t>
            </a:r>
            <a:endParaRPr lang="he-IL" sz="1250" dirty="0"/>
          </a:p>
        </p:txBody>
      </p:sp>
      <p:sp>
        <p:nvSpPr>
          <p:cNvPr id="12" name="Text 10"/>
          <p:cNvSpPr/>
          <p:nvPr/>
        </p:nvSpPr>
        <p:spPr>
          <a:xfrm>
            <a:off x="5820156" y="30358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246120"/>
            <a:ext cx="2464308" cy="640080"/>
          </a:xfrm>
          <a:prstGeom prst="roundRect">
            <a:avLst>
              <a:gd name="adj" fmla="val 17143"/>
            </a:avLst>
          </a:prstGeom>
          <a:solidFill>
            <a:srgbClr val="1E2530"/>
          </a:solidFill>
          <a:ln w="12700">
            <a:solidFill>
              <a:srgbClr val="2A3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46120"/>
            <a:ext cx="22814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</a:t>
            </a:r>
            <a:endParaRPr lang="he-IL" sz="1250" dirty="0"/>
          </a:p>
        </p:txBody>
      </p:sp>
      <p:sp>
        <p:nvSpPr>
          <p:cNvPr id="15" name="Shape 13"/>
          <p:cNvSpPr/>
          <p:nvPr/>
        </p:nvSpPr>
        <p:spPr>
          <a:xfrm>
            <a:off x="3515868" y="3246120"/>
            <a:ext cx="2464308" cy="640080"/>
          </a:xfrm>
          <a:prstGeom prst="roundRect">
            <a:avLst>
              <a:gd name="adj" fmla="val 17143"/>
            </a:avLst>
          </a:prstGeom>
          <a:solidFill>
            <a:srgbClr val="1E2530"/>
          </a:solidFill>
          <a:ln w="12700">
            <a:solidFill>
              <a:srgbClr val="2A33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07308" y="3246120"/>
            <a:ext cx="22814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company_scope</a:t>
            </a:r>
            <a:endParaRPr lang="he-IL" sz="1250" dirty="0"/>
          </a:p>
        </p:txBody>
      </p:sp>
      <p:sp>
        <p:nvSpPr>
          <p:cNvPr id="17" name="Shape 15"/>
          <p:cNvSpPr/>
          <p:nvPr/>
        </p:nvSpPr>
        <p:spPr>
          <a:xfrm>
            <a:off x="6208776" y="3246120"/>
            <a:ext cx="2464308" cy="640080"/>
          </a:xfrm>
          <a:prstGeom prst="roundRect">
            <a:avLst>
              <a:gd name="adj" fmla="val 17143"/>
            </a:avLst>
          </a:prstGeom>
          <a:solidFill>
            <a:srgbClr val="1E2530"/>
          </a:solidFill>
          <a:ln w="12700">
            <a:solidFill>
              <a:srgbClr val="2A33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3246120"/>
            <a:ext cx="22814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חוקי-מס</a:t>
            </a:r>
            <a:endParaRPr lang="he-IL" sz="1250" dirty="0"/>
          </a:p>
        </p:txBody>
      </p:sp>
      <p:sp>
        <p:nvSpPr>
          <p:cNvPr id="19" name="Shape 17"/>
          <p:cNvSpPr/>
          <p:nvPr/>
        </p:nvSpPr>
        <p:spPr>
          <a:xfrm>
            <a:off x="8901684" y="3246120"/>
            <a:ext cx="2464308" cy="640080"/>
          </a:xfrm>
          <a:prstGeom prst="roundRect">
            <a:avLst>
              <a:gd name="adj" fmla="val 17143"/>
            </a:avLst>
          </a:prstGeom>
          <a:solidFill>
            <a:srgbClr val="1E2530"/>
          </a:solidFill>
          <a:ln w="12700">
            <a:solidFill>
              <a:srgbClr val="2A33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93124" y="3246120"/>
            <a:ext cx="22814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מסמכים</a:t>
            </a:r>
            <a:endParaRPr lang="he-IL" sz="1250" dirty="0"/>
          </a:p>
        </p:txBody>
      </p:sp>
      <p:sp>
        <p:nvSpPr>
          <p:cNvPr id="21" name="Text 19"/>
          <p:cNvSpPr/>
          <p:nvPr/>
        </p:nvSpPr>
        <p:spPr>
          <a:xfrm>
            <a:off x="5820156" y="3904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4114800"/>
            <a:ext cx="10543032" cy="640080"/>
          </a:xfrm>
          <a:prstGeom prst="roundRect">
            <a:avLst>
              <a:gd name="adj" fmla="val 17143"/>
            </a:avLst>
          </a:prstGeom>
          <a:solidFill>
            <a:srgbClr val="1E2530"/>
          </a:solidFill>
          <a:ln w="12700">
            <a:solidFill>
              <a:srgbClr val="2A33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11480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ORM</a:t>
            </a:r>
            <a:endParaRPr lang="he-IL" sz="1250" dirty="0"/>
          </a:p>
        </p:txBody>
      </p:sp>
      <p:sp>
        <p:nvSpPr>
          <p:cNvPr id="24" name="Text 22"/>
          <p:cNvSpPr/>
          <p:nvPr/>
        </p:nvSpPr>
        <p:spPr>
          <a:xfrm>
            <a:off x="5820156" y="477316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2960" y="4983480"/>
            <a:ext cx="10543032" cy="640080"/>
          </a:xfrm>
          <a:prstGeom prst="roundRect">
            <a:avLst>
              <a:gd name="adj" fmla="val 17143"/>
            </a:avLst>
          </a:prstGeom>
          <a:solidFill>
            <a:srgbClr val="1E2530"/>
          </a:solidFill>
          <a:ln w="12700">
            <a:solidFill>
              <a:srgbClr val="2A33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983480"/>
            <a:ext cx="10360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· WAL Mode — esop_database.db</a:t>
            </a:r>
            <a:endParaRPr lang="he-IL" sz="1250" dirty="0"/>
          </a:p>
        </p:txBody>
      </p:sp>
      <p:sp>
        <p:nvSpPr>
          <p:cNvPr id="27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he-IL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 עמודות הליבה</a:t>
            </a:r>
            <a:endParaRPr lang="he-IL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5088636" cy="1965960"/>
          </a:xfrm>
          <a:prstGeom prst="roundRect">
            <a:avLst>
              <a:gd name="adj" fmla="val 5581"/>
            </a:avLst>
          </a:prstGeom>
          <a:solidFill>
            <a:srgbClr val="1E2530"/>
          </a:solidFill>
          <a:ln/>
        </p:spPr>
      </p:sp>
      <p:sp>
        <p:nvSpPr>
          <p:cNvPr id="4" name="Shape 2"/>
          <p:cNvSpPr/>
          <p:nvPr/>
        </p:nvSpPr>
        <p:spPr>
          <a:xfrm>
            <a:off x="4791456" y="1851660"/>
            <a:ext cx="868680" cy="868680"/>
          </a:xfrm>
          <a:prstGeom prst="ellipse">
            <a:avLst/>
          </a:prstGeom>
          <a:solidFill>
            <a:srgbClr val="232B38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5" name="Image 0" descr="C:\Users\Shalom\AppData\Local\Temp\claude\C--Users-Shalom-ESOP\4eb46ef2-3f76-4293-8df6-235ea69e2562\scratchpad\esop_deck\icons\boo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9939" y="2060143"/>
            <a:ext cx="451714" cy="4517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828800"/>
            <a:ext cx="3717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מבוסס-אירועים</a:t>
            </a:r>
            <a:endParaRPr lang="he-IL" sz="1600" dirty="0"/>
          </a:p>
        </p:txBody>
      </p:sp>
      <p:sp>
        <p:nvSpPr>
          <p:cNvPr id="7" name="Text 4"/>
          <p:cNvSpPr/>
          <p:nvPr/>
        </p:nvSpPr>
        <p:spPr>
          <a:xfrm>
            <a:off x="1143000" y="2377440"/>
            <a:ext cx="37170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הוא תוצר של חישוב מחדש (replay), לא שדה שנערך ידנית</a:t>
            </a:r>
            <a:endParaRPr lang="he-IL" sz="1200" dirty="0"/>
          </a:p>
        </p:txBody>
      </p:sp>
      <p:sp>
        <p:nvSpPr>
          <p:cNvPr id="8" name="Shape 5"/>
          <p:cNvSpPr/>
          <p:nvPr/>
        </p:nvSpPr>
        <p:spPr>
          <a:xfrm>
            <a:off x="6277356" y="1600200"/>
            <a:ext cx="5088636" cy="1965960"/>
          </a:xfrm>
          <a:prstGeom prst="roundRect">
            <a:avLst>
              <a:gd name="adj" fmla="val 5581"/>
            </a:avLst>
          </a:prstGeom>
          <a:solidFill>
            <a:srgbClr val="1E2530"/>
          </a:solidFill>
          <a:ln/>
        </p:spPr>
      </p:sp>
      <p:sp>
        <p:nvSpPr>
          <p:cNvPr id="9" name="Shape 6"/>
          <p:cNvSpPr/>
          <p:nvPr/>
        </p:nvSpPr>
        <p:spPr>
          <a:xfrm>
            <a:off x="10245852" y="1851660"/>
            <a:ext cx="868680" cy="868680"/>
          </a:xfrm>
          <a:prstGeom prst="ellipse">
            <a:avLst/>
          </a:prstGeom>
          <a:solidFill>
            <a:srgbClr val="232B38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10" name="Image 1" descr="C:\Users\Shalom\AppData\Local\Temp\claude\C--Users-Shalom-ESOP\4eb46ef2-3f76-4293-8df6-235ea69e2562\scratchpad\esop_deck\icons\building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06014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97396" y="1828800"/>
            <a:ext cx="3717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company_scope רב-דיירי</a:t>
            </a:r>
            <a:endParaRPr lang="he-IL" sz="1600" dirty="0"/>
          </a:p>
        </p:txBody>
      </p:sp>
      <p:sp>
        <p:nvSpPr>
          <p:cNvPr id="12" name="Text 8"/>
          <p:cNvSpPr/>
          <p:nvPr/>
        </p:nvSpPr>
        <p:spPr>
          <a:xfrm>
            <a:off x="6597396" y="2377440"/>
            <a:ext cx="37170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רישום מרכזי שאוכף בידוד דאטה בין חברות, טבלה-טבלה</a:t>
            </a:r>
            <a:endParaRPr lang="he-IL" sz="1200" dirty="0"/>
          </a:p>
        </p:txBody>
      </p:sp>
      <p:sp>
        <p:nvSpPr>
          <p:cNvPr id="13" name="Shape 9"/>
          <p:cNvSpPr/>
          <p:nvPr/>
        </p:nvSpPr>
        <p:spPr>
          <a:xfrm>
            <a:off x="822960" y="3886200"/>
            <a:ext cx="5088636" cy="1965960"/>
          </a:xfrm>
          <a:prstGeom prst="roundRect">
            <a:avLst>
              <a:gd name="adj" fmla="val 5581"/>
            </a:avLst>
          </a:prstGeom>
          <a:solidFill>
            <a:srgbClr val="1E2530"/>
          </a:solidFill>
          <a:ln/>
        </p:spPr>
      </p:sp>
      <p:sp>
        <p:nvSpPr>
          <p:cNvPr id="14" name="Shape 10"/>
          <p:cNvSpPr/>
          <p:nvPr/>
        </p:nvSpPr>
        <p:spPr>
          <a:xfrm>
            <a:off x="4791456" y="4137660"/>
            <a:ext cx="868680" cy="868680"/>
          </a:xfrm>
          <a:prstGeom prst="ellipse">
            <a:avLst/>
          </a:prstGeom>
          <a:solidFill>
            <a:srgbClr val="232B38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15" name="Image 2" descr="C:\Users\Shalom\AppData\Local\Temp\claude\C--Users-Shalom-ESOP\4eb46ef2-3f76-4293-8df6-235ea69e2562\scratchpad\esop_deck\icons\gavel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939" y="434614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4114800"/>
            <a:ext cx="3717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חוקי-מס כדאטה</a:t>
            </a:r>
            <a:endParaRPr lang="he-IL" sz="1600" dirty="0"/>
          </a:p>
        </p:txBody>
      </p:sp>
      <p:sp>
        <p:nvSpPr>
          <p:cNvPr id="17" name="Text 12"/>
          <p:cNvSpPr/>
          <p:nvPr/>
        </p:nvSpPr>
        <p:spPr>
          <a:xfrm>
            <a:off x="1143000" y="4663440"/>
            <a:ext cx="37170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 ומכשיר הם דאטה מגורסת עם תאריך תוקף ומקור, לא קוד</a:t>
            </a:r>
            <a:endParaRPr lang="he-IL" sz="1200" dirty="0"/>
          </a:p>
        </p:txBody>
      </p:sp>
      <p:sp>
        <p:nvSpPr>
          <p:cNvPr id="18" name="Shape 13"/>
          <p:cNvSpPr/>
          <p:nvPr/>
        </p:nvSpPr>
        <p:spPr>
          <a:xfrm>
            <a:off x="6277356" y="3886200"/>
            <a:ext cx="5088636" cy="1965960"/>
          </a:xfrm>
          <a:prstGeom prst="roundRect">
            <a:avLst>
              <a:gd name="adj" fmla="val 5581"/>
            </a:avLst>
          </a:prstGeom>
          <a:solidFill>
            <a:srgbClr val="1E2530"/>
          </a:solidFill>
          <a:ln/>
        </p:spPr>
      </p:sp>
      <p:sp>
        <p:nvSpPr>
          <p:cNvPr id="19" name="Shape 14"/>
          <p:cNvSpPr/>
          <p:nvPr/>
        </p:nvSpPr>
        <p:spPr>
          <a:xfrm>
            <a:off x="10245852" y="4137660"/>
            <a:ext cx="868680" cy="868680"/>
          </a:xfrm>
          <a:prstGeom prst="ellipse">
            <a:avLst/>
          </a:prstGeom>
          <a:solidFill>
            <a:srgbClr val="232B38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20" name="Image 3" descr="C:\Users\Shalom\AppData\Local\Temp\claude\C--Users-Shalom-ESOP\4eb46ef2-3f76-4293-8df6-235ea69e2562\scratchpad\esop_deck\icons\file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4335" y="4346143"/>
            <a:ext cx="451714" cy="45171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97396" y="4114800"/>
            <a:ext cx="3717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מסמכים ו-PDF</a:t>
            </a:r>
            <a:endParaRPr lang="he-IL" sz="1600" dirty="0"/>
          </a:p>
        </p:txBody>
      </p:sp>
      <p:sp>
        <p:nvSpPr>
          <p:cNvPr id="22" name="Text 16"/>
          <p:cNvSpPr/>
          <p:nvPr/>
        </p:nvSpPr>
        <p:spPr>
          <a:xfrm>
            <a:off x="6597396" y="4663440"/>
            <a:ext cx="37170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he-IL" altLang="en-US" sz="12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אישורי קבלה, דוחות רשות המסים והנאמן — נוצרים מהנתונים</a:t>
            </a:r>
            <a:endParaRPr lang="he-IL" sz="1200" dirty="0"/>
          </a:p>
        </p:txBody>
      </p:sp>
      <p:sp>
        <p:nvSpPr>
          <p:cNvPr id="23" name="Text 17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he-IL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הסטאק: פשוט ומכוון-מטרה</a:t>
            </a:r>
            <a:endParaRPr lang="he-IL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השרת והדאטה</a:t>
            </a:r>
            <a:endParaRPr lang="he-IL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5" name="Image 0" descr="C:\Users\Shalom\AppData\Local\Temp\claude\C--Users-Shalom-ESOP\4eb46ef2-3f76-4293-8df6-235ea69e2562\scratchpad\esop_deck\icons\serve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11957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920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SQLAlchemy</a:t>
            </a:r>
            <a:endParaRPr lang="he-IL" sz="1400" dirty="0"/>
          </a:p>
        </p:txBody>
      </p:sp>
      <p:sp>
        <p:nvSpPr>
          <p:cNvPr id="7" name="Text 4"/>
          <p:cNvSpPr/>
          <p:nvPr/>
        </p:nvSpPr>
        <p:spPr>
          <a:xfrm>
            <a:off x="1691640" y="2286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שכבת ה-API ושכבת ה-ORM</a:t>
            </a:r>
            <a:endParaRPr lang="he-IL" sz="1150" dirty="0"/>
          </a:p>
        </p:txBody>
      </p:sp>
      <p:sp>
        <p:nvSpPr>
          <p:cNvPr id="8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9" name="Image 1" descr="C:\Users\Shalom\AppData\Local\Temp\claude\C--Users-Shalom-ESOP\4eb46ef2-3f76-4293-8df6-235ea69e2562\scratchpad\esop_deck\icons\databas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" y="298825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2788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ב-WAL Mode</a:t>
            </a:r>
            <a:endParaRPr lang="he-IL" sz="1400" dirty="0"/>
          </a:p>
        </p:txBody>
      </p:sp>
      <p:sp>
        <p:nvSpPr>
          <p:cNvPr id="11" name="Text 7"/>
          <p:cNvSpPr/>
          <p:nvPr/>
        </p:nvSpPr>
        <p:spPr>
          <a:xfrm>
            <a:off x="1691640" y="3154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esop_database.db, מנוהל עם Alembic</a:t>
            </a:r>
            <a:endParaRPr lang="he-IL" sz="1150" dirty="0"/>
          </a:p>
        </p:txBody>
      </p:sp>
      <p:sp>
        <p:nvSpPr>
          <p:cNvPr id="12" name="Shape 8"/>
          <p:cNvSpPr/>
          <p:nvPr/>
        </p:nvSpPr>
        <p:spPr>
          <a:xfrm>
            <a:off x="914400" y="3703320"/>
            <a:ext cx="640080" cy="64008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13" name="Image 2" descr="C:\Users\Shalom\AppData\Local\Temp\claude\C--Users-Shalom-ESOP\4eb46ef2-3f76-4293-8df6-235ea69e2562\scratchpad\esop_deck\icons\link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385693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3657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Alembic Migrations</a:t>
            </a:r>
            <a:endParaRPr lang="he-IL" sz="1400" dirty="0"/>
          </a:p>
        </p:txBody>
      </p:sp>
      <p:sp>
        <p:nvSpPr>
          <p:cNvPr id="15" name="Text 10"/>
          <p:cNvSpPr/>
          <p:nvPr/>
        </p:nvSpPr>
        <p:spPr>
          <a:xfrm>
            <a:off x="169164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1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סכמה מבוקר, לא create_all</a:t>
            </a:r>
            <a:endParaRPr lang="he-IL" sz="1150" dirty="0"/>
          </a:p>
        </p:txBody>
      </p:sp>
      <p:sp>
        <p:nvSpPr>
          <p:cNvPr id="16" name="Text 11"/>
          <p:cNvSpPr/>
          <p:nvPr/>
        </p:nvSpPr>
        <p:spPr>
          <a:xfrm>
            <a:off x="6446520" y="1417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שלושה פורטלים סטטיים</a:t>
            </a:r>
            <a:endParaRPr lang="he-IL" sz="1400" dirty="0"/>
          </a:p>
        </p:txBody>
      </p:sp>
      <p:sp>
        <p:nvSpPr>
          <p:cNvPr id="17" name="Shape 12"/>
          <p:cNvSpPr/>
          <p:nvPr/>
        </p:nvSpPr>
        <p:spPr>
          <a:xfrm>
            <a:off x="6446520" y="1920240"/>
            <a:ext cx="4937760" cy="2788920"/>
          </a:xfrm>
          <a:prstGeom prst="roundRect">
            <a:avLst>
              <a:gd name="adj" fmla="val 3934"/>
            </a:avLst>
          </a:prstGeom>
          <a:solidFill>
            <a:srgbClr val="1E2530"/>
          </a:solidFill>
          <a:ln/>
        </p:spPr>
      </p:sp>
      <p:sp>
        <p:nvSpPr>
          <p:cNvPr id="18" name="Shape 13"/>
          <p:cNvSpPr/>
          <p:nvPr/>
        </p:nvSpPr>
        <p:spPr>
          <a:xfrm>
            <a:off x="10584180" y="2144268"/>
            <a:ext cx="502920" cy="50292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19" name="Image 3" descr="C:\Users\Shalom\AppData\Local\Temp\claude\C--Users-Shalom-ESOP\4eb46ef2-3f76-4293-8df6-235ea69e2562\scratchpad\esop_deck\icons\users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4881" y="2264969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66560" y="21031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אדמין</a:t>
            </a:r>
            <a:endParaRPr lang="he-IL" sz="1400" dirty="0"/>
          </a:p>
        </p:txBody>
      </p:sp>
      <p:sp>
        <p:nvSpPr>
          <p:cNvPr id="21" name="Text 15"/>
          <p:cNvSpPr/>
          <p:nvPr/>
        </p:nvSpPr>
        <p:spPr>
          <a:xfrm>
            <a:off x="6766560" y="23957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admin_portal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10584180" y="2802636"/>
            <a:ext cx="502920" cy="50292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23" name="Image 4" descr="C:\Users\Shalom\AppData\Local\Temp\claude\C--Users-Shalom-ESOP\4eb46ef2-3f76-4293-8df6-235ea69e2562\scratchpad\esop_deck\icons\users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4881" y="2923337"/>
            <a:ext cx="261518" cy="26151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766560" y="27614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עובד</a:t>
            </a:r>
            <a:endParaRPr lang="he-IL" sz="1400" dirty="0"/>
          </a:p>
        </p:txBody>
      </p:sp>
      <p:sp>
        <p:nvSpPr>
          <p:cNvPr id="25" name="Text 18"/>
          <p:cNvSpPr/>
          <p:nvPr/>
        </p:nvSpPr>
        <p:spPr>
          <a:xfrm>
            <a:off x="6766560" y="30540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employee_portal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10584180" y="3461004"/>
            <a:ext cx="502920" cy="502920"/>
          </a:xfrm>
          <a:prstGeom prst="ellipse">
            <a:avLst/>
          </a:prstGeom>
          <a:solidFill>
            <a:srgbClr val="1A2029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27" name="Image 5" descr="C:\Users\Shalom\AppData\Local\Temp\claude\C--Users-Shalom-ESOP\4eb46ef2-3f76-4293-8df6-235ea69e2562\scratchpad\esop_deck\icons\users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4881" y="3581705"/>
            <a:ext cx="261518" cy="26151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66560" y="34198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נאמן</a:t>
            </a:r>
            <a:endParaRPr lang="he-IL" sz="1400" dirty="0"/>
          </a:p>
        </p:txBody>
      </p:sp>
      <p:sp>
        <p:nvSpPr>
          <p:cNvPr id="29" name="Text 21"/>
          <p:cNvSpPr/>
          <p:nvPr/>
        </p:nvSpPr>
        <p:spPr>
          <a:xfrm>
            <a:off x="6766560" y="37124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trustee_portal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6766560" y="41239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he-IL" altLang="en-US" sz="10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שלושתם סטטיים, ללא framework, מוגשים ישירות על-ידי ה-API תחת /clients</a:t>
            </a:r>
            <a:endParaRPr lang="he-IL" sz="1050" dirty="0"/>
          </a:p>
        </p:txBody>
      </p:sp>
      <p:sp>
        <p:nvSpPr>
          <p:cNvPr id="31" name="Shape 23"/>
          <p:cNvSpPr/>
          <p:nvPr/>
        </p:nvSpPr>
        <p:spPr>
          <a:xfrm>
            <a:off x="822960" y="4892040"/>
            <a:ext cx="10543032" cy="777240"/>
          </a:xfrm>
          <a:prstGeom prst="roundRect">
            <a:avLst>
              <a:gd name="adj" fmla="val 14118"/>
            </a:avLst>
          </a:prstGeom>
          <a:solidFill>
            <a:srgbClr val="1B3D3A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1143000" y="489204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350" b="1" dirty="0">
                <a:solidFill>
                  <a:srgbClr val="CF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מסלולי מס נתמכים: סעיף 102 ישראלי (מסלול הוני / מסלול הכנסת עבודה) · ISO ו-NSO אמריקאיים</a:t>
            </a:r>
            <a:endParaRPr lang="he-IL" sz="1350" dirty="0"/>
          </a:p>
        </p:txBody>
      </p:sp>
      <p:sp>
        <p:nvSpPr>
          <p:cNvPr id="33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he-IL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42316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80076" y="2423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3</a:t>
            </a:r>
            <a:endParaRPr lang="he-IL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306324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המשמעת ההנדסית</a:t>
            </a:r>
            <a:endParaRPr lang="he-IL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ששה חוקי ברזל שלא נסחרים</a:t>
            </a:r>
            <a:endParaRPr lang="he-IL" sz="1600" dirty="0"/>
          </a:p>
        </p:txBody>
      </p:sp>
      <p:sp>
        <p:nvSpPr>
          <p:cNvPr id="6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he-IL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חוקי ברזל — לא נסחרים באף תנאי</a:t>
            </a:r>
            <a:endParaRPr lang="he-IL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331464" cy="1965960"/>
          </a:xfrm>
          <a:prstGeom prst="roundRect">
            <a:avLst>
              <a:gd name="adj" fmla="val 5581"/>
            </a:avLst>
          </a:prstGeom>
          <a:solidFill>
            <a:srgbClr val="1E2530"/>
          </a:solidFill>
          <a:ln/>
        </p:spPr>
      </p:sp>
      <p:sp>
        <p:nvSpPr>
          <p:cNvPr id="4" name="Shape 2"/>
          <p:cNvSpPr/>
          <p:nvPr/>
        </p:nvSpPr>
        <p:spPr>
          <a:xfrm>
            <a:off x="2122932" y="1801368"/>
            <a:ext cx="731520" cy="731520"/>
          </a:xfrm>
          <a:prstGeom prst="ellipse">
            <a:avLst/>
          </a:prstGeom>
          <a:solidFill>
            <a:srgbClr val="232B38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5" name="Image 0" descr="C:\Users\Shalom\AppData\Local\Temp\claude\C--Users-Shalom-ESOP\4eb46ef2-3f76-4293-8df6-235ea69e2562\scratchpad\esop_deck\icons\ban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497" y="1976933"/>
            <a:ext cx="380390" cy="3803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606040"/>
            <a:ext cx="2965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ממציאים כלל מס</a:t>
            </a:r>
            <a:endParaRPr lang="he-IL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301752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אף פעם, גם כשהוא נשמע מובן מאליו</a:t>
            </a:r>
            <a:endParaRPr lang="he-IL" sz="1000" dirty="0"/>
          </a:p>
        </p:txBody>
      </p:sp>
      <p:sp>
        <p:nvSpPr>
          <p:cNvPr id="8" name="Shape 5"/>
          <p:cNvSpPr/>
          <p:nvPr/>
        </p:nvSpPr>
        <p:spPr>
          <a:xfrm>
            <a:off x="4428744" y="1600200"/>
            <a:ext cx="3331464" cy="1965960"/>
          </a:xfrm>
          <a:prstGeom prst="roundRect">
            <a:avLst>
              <a:gd name="adj" fmla="val 5581"/>
            </a:avLst>
          </a:prstGeom>
          <a:solidFill>
            <a:srgbClr val="1E2530"/>
          </a:solidFill>
          <a:ln/>
        </p:spPr>
      </p:sp>
      <p:sp>
        <p:nvSpPr>
          <p:cNvPr id="9" name="Shape 6"/>
          <p:cNvSpPr/>
          <p:nvPr/>
        </p:nvSpPr>
        <p:spPr>
          <a:xfrm>
            <a:off x="5728716" y="1801368"/>
            <a:ext cx="731520" cy="731520"/>
          </a:xfrm>
          <a:prstGeom prst="ellipse">
            <a:avLst/>
          </a:prstGeom>
          <a:solidFill>
            <a:srgbClr val="232B38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10" name="Image 1" descr="C:\Users\Shalom\AppData\Local\Temp\claude\C--Users-Shalom-ESOP\4eb46ef2-3f76-4293-8df6-235ea69e2562\scratchpad\esop_deck\icons\link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4281" y="1976933"/>
            <a:ext cx="380390" cy="3803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1624" y="2606040"/>
            <a:ext cx="2965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מספר בלי שרשור מקורות</a:t>
            </a:r>
            <a:endParaRPr lang="he-IL" sz="1300" dirty="0"/>
          </a:p>
        </p:txBody>
      </p:sp>
      <p:sp>
        <p:nvSpPr>
          <p:cNvPr id="12" name="Text 8"/>
          <p:cNvSpPr/>
          <p:nvPr/>
        </p:nvSpPr>
        <p:spPr>
          <a:xfrm>
            <a:off x="4611624" y="301752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כלל, מקור והערכה שהולידו כל חישוב</a:t>
            </a:r>
            <a:endParaRPr lang="he-IL" sz="1000" dirty="0"/>
          </a:p>
        </p:txBody>
      </p:sp>
      <p:sp>
        <p:nvSpPr>
          <p:cNvPr id="13" name="Shape 9"/>
          <p:cNvSpPr/>
          <p:nvPr/>
        </p:nvSpPr>
        <p:spPr>
          <a:xfrm>
            <a:off x="8034528" y="1600200"/>
            <a:ext cx="3331464" cy="1965960"/>
          </a:xfrm>
          <a:prstGeom prst="roundRect">
            <a:avLst>
              <a:gd name="adj" fmla="val 5581"/>
            </a:avLst>
          </a:prstGeom>
          <a:solidFill>
            <a:srgbClr val="1E2530"/>
          </a:solidFill>
          <a:ln/>
        </p:spPr>
      </p:sp>
      <p:sp>
        <p:nvSpPr>
          <p:cNvPr id="14" name="Shape 10"/>
          <p:cNvSpPr/>
          <p:nvPr/>
        </p:nvSpPr>
        <p:spPr>
          <a:xfrm>
            <a:off x="9334500" y="1801368"/>
            <a:ext cx="731520" cy="731520"/>
          </a:xfrm>
          <a:prstGeom prst="ellipse">
            <a:avLst/>
          </a:prstGeom>
          <a:solidFill>
            <a:srgbClr val="232B38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15" name="Image 2" descr="C:\Users\Shalom\AppData\Local\Temp\claude\C--Users-Shalom-ESOP\4eb46ef2-3f76-4293-8df6-235ea69e2562\scratchpad\esop_deck\icons\shield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065" y="1976933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17408" y="2606040"/>
            <a:ext cx="2965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חסימה, לא דיווח</a:t>
            </a:r>
            <a:endParaRPr lang="he-IL" sz="1300" dirty="0"/>
          </a:p>
        </p:txBody>
      </p:sp>
      <p:sp>
        <p:nvSpPr>
          <p:cNvPr id="17" name="Text 12"/>
          <p:cNvSpPr/>
          <p:nvPr/>
        </p:nvSpPr>
        <p:spPr>
          <a:xfrm>
            <a:off x="8217408" y="301752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מצב לא כשיר נחסם מראש, לא מדווח בדיעבד</a:t>
            </a:r>
            <a:endParaRPr lang="he-IL" sz="1000" dirty="0"/>
          </a:p>
        </p:txBody>
      </p:sp>
      <p:sp>
        <p:nvSpPr>
          <p:cNvPr id="18" name="Shape 13"/>
          <p:cNvSpPr/>
          <p:nvPr/>
        </p:nvSpPr>
        <p:spPr>
          <a:xfrm>
            <a:off x="822960" y="3840480"/>
            <a:ext cx="3331464" cy="1965960"/>
          </a:xfrm>
          <a:prstGeom prst="roundRect">
            <a:avLst>
              <a:gd name="adj" fmla="val 5581"/>
            </a:avLst>
          </a:prstGeom>
          <a:solidFill>
            <a:srgbClr val="1E2530"/>
          </a:solidFill>
          <a:ln/>
        </p:spPr>
      </p:sp>
      <p:sp>
        <p:nvSpPr>
          <p:cNvPr id="19" name="Shape 14"/>
          <p:cNvSpPr/>
          <p:nvPr/>
        </p:nvSpPr>
        <p:spPr>
          <a:xfrm>
            <a:off x="2122932" y="4041648"/>
            <a:ext cx="731520" cy="731520"/>
          </a:xfrm>
          <a:prstGeom prst="ellipse">
            <a:avLst/>
          </a:prstGeom>
          <a:solidFill>
            <a:srgbClr val="232B38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20" name="Image 3" descr="C:\Users\Shalom\AppData\Local\Temp\claude\C--Users-Shalom-ESOP\4eb46ef2-3f76-4293-8df6-235ea69e2562\scratchpad\esop_deck\icons\lock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497" y="4217213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840" y="4846320"/>
            <a:ext cx="2965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Invariants בשכבת הנתונים</a:t>
            </a:r>
            <a:endParaRPr lang="he-IL" sz="1300" dirty="0"/>
          </a:p>
        </p:txBody>
      </p:sp>
      <p:sp>
        <p:nvSpPr>
          <p:cNvPr id="22" name="Text 16"/>
          <p:cNvSpPr/>
          <p:nvPr/>
        </p:nvSpPr>
        <p:spPr>
          <a:xfrm>
            <a:off x="1005840" y="525780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נאכפים שם, לא בקוד האפליקציה שאפשר לעקוף</a:t>
            </a:r>
            <a:endParaRPr lang="he-IL" sz="1000" dirty="0"/>
          </a:p>
        </p:txBody>
      </p:sp>
      <p:sp>
        <p:nvSpPr>
          <p:cNvPr id="23" name="Shape 17"/>
          <p:cNvSpPr/>
          <p:nvPr/>
        </p:nvSpPr>
        <p:spPr>
          <a:xfrm>
            <a:off x="4428744" y="3840480"/>
            <a:ext cx="3331464" cy="1965960"/>
          </a:xfrm>
          <a:prstGeom prst="roundRect">
            <a:avLst>
              <a:gd name="adj" fmla="val 5581"/>
            </a:avLst>
          </a:prstGeom>
          <a:solidFill>
            <a:srgbClr val="1E2530"/>
          </a:solidFill>
          <a:ln/>
        </p:spPr>
      </p:sp>
      <p:sp>
        <p:nvSpPr>
          <p:cNvPr id="24" name="Shape 18"/>
          <p:cNvSpPr/>
          <p:nvPr/>
        </p:nvSpPr>
        <p:spPr>
          <a:xfrm>
            <a:off x="5728716" y="4041648"/>
            <a:ext cx="731520" cy="731520"/>
          </a:xfrm>
          <a:prstGeom prst="ellipse">
            <a:avLst/>
          </a:prstGeom>
          <a:solidFill>
            <a:srgbClr val="232B38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25" name="Image 4" descr="C:\Users\Shalom\AppData\Local\Temp\claude\C--Users-Shalom-ESOP\4eb46ef2-3f76-4293-8df6-235ea69e2562\scratchpad\esop_deck\icons\check_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4281" y="4217213"/>
            <a:ext cx="380390" cy="38039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11624" y="4846320"/>
            <a:ext cx="2965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בדיקה לא מוחלשת</a:t>
            </a:r>
            <a:endParaRPr lang="he-IL" sz="1300" dirty="0"/>
          </a:p>
        </p:txBody>
      </p:sp>
      <p:sp>
        <p:nvSpPr>
          <p:cNvPr id="27" name="Text 20"/>
          <p:cNvSpPr/>
          <p:nvPr/>
        </p:nvSpPr>
        <p:spPr>
          <a:xfrm>
            <a:off x="4611624" y="525780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ולא נמחקת כדי שמשהו יעבור</a:t>
            </a:r>
            <a:endParaRPr lang="he-IL" sz="1000" dirty="0"/>
          </a:p>
        </p:txBody>
      </p:sp>
      <p:sp>
        <p:nvSpPr>
          <p:cNvPr id="28" name="Shape 21"/>
          <p:cNvSpPr/>
          <p:nvPr/>
        </p:nvSpPr>
        <p:spPr>
          <a:xfrm>
            <a:off x="8034528" y="3840480"/>
            <a:ext cx="3331464" cy="1965960"/>
          </a:xfrm>
          <a:prstGeom prst="roundRect">
            <a:avLst>
              <a:gd name="adj" fmla="val 5581"/>
            </a:avLst>
          </a:prstGeom>
          <a:solidFill>
            <a:srgbClr val="1E2530"/>
          </a:solidFill>
          <a:ln/>
        </p:spPr>
      </p:sp>
      <p:sp>
        <p:nvSpPr>
          <p:cNvPr id="29" name="Shape 22"/>
          <p:cNvSpPr/>
          <p:nvPr/>
        </p:nvSpPr>
        <p:spPr>
          <a:xfrm>
            <a:off x="9334500" y="4041648"/>
            <a:ext cx="731520" cy="731520"/>
          </a:xfrm>
          <a:prstGeom prst="ellipse">
            <a:avLst/>
          </a:prstGeom>
          <a:solidFill>
            <a:srgbClr val="232B38"/>
          </a:solidFill>
          <a:ln w="12700">
            <a:solidFill>
              <a:srgbClr val="1B8F82"/>
            </a:solidFill>
            <a:prstDash val="solid"/>
          </a:ln>
        </p:spPr>
      </p:sp>
      <p:pic>
        <p:nvPicPr>
          <p:cNvPr id="30" name="Image 5" descr="C:\Users\Shalom\AppData\Local\Temp\claude\C--Users-Shalom-ESOP\4eb46ef2-3f76-4293-8df6-235ea69e2562\scratchpad\esop_deck\icons\balance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0065" y="4217213"/>
            <a:ext cx="380390" cy="38039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17408" y="4846320"/>
            <a:ext cx="2965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מסביר, לא מחשב</a:t>
            </a:r>
            <a:endParaRPr lang="he-IL" sz="1300" dirty="0"/>
          </a:p>
        </p:txBody>
      </p:sp>
      <p:sp>
        <p:nvSpPr>
          <p:cNvPr id="32" name="Text 24"/>
          <p:cNvSpPr/>
          <p:nvPr/>
        </p:nvSpPr>
        <p:spPr>
          <a:xfrm>
            <a:off x="8217408" y="525780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דטרמיניסטי מחשב כל מספר שנכנס לדוח</a:t>
            </a:r>
            <a:endParaRPr lang="he-IL" sz="1000" dirty="0"/>
          </a:p>
        </p:txBody>
      </p:sp>
      <p:sp>
        <p:nvSpPr>
          <p:cNvPr id="33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he-IL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0076" y="2423160"/>
            <a:ext cx="1828800" cy="438912"/>
          </a:xfrm>
          <a:prstGeom prst="roundRect">
            <a:avLst>
              <a:gd name="adj" fmla="val 50000"/>
            </a:avLst>
          </a:prstGeom>
          <a:solidFill>
            <a:srgbClr val="1E2530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80076" y="242316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3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פרק 4</a:t>
            </a:r>
            <a:endParaRPr lang="he-IL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306324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המצב היום</a:t>
            </a:r>
            <a:endParaRPr lang="he-IL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402336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1600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גרסה 1.2.0, סגורה ומאומתת</a:t>
            </a:r>
            <a:endParaRPr lang="he-IL" sz="1600" dirty="0"/>
          </a:p>
        </p:txBody>
      </p:sp>
      <p:sp>
        <p:nvSpPr>
          <p:cNvPr id="6" name="Text 4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he-IL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עומדים הדברים עכשיו</a:t>
            </a:r>
            <a:endParaRPr lang="he-IL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2430018" cy="2103120"/>
          </a:xfrm>
          <a:prstGeom prst="roundRect">
            <a:avLst>
              <a:gd name="adj" fmla="val 5217"/>
            </a:avLst>
          </a:prstGeom>
          <a:solidFill>
            <a:srgbClr val="1E25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57400"/>
            <a:ext cx="24300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60120" y="3017520"/>
            <a:ext cx="2155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115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בדיקות עוברות, 0 נכשלות</a:t>
            </a:r>
            <a:endParaRPr lang="he-IL" sz="1150" dirty="0"/>
          </a:p>
        </p:txBody>
      </p:sp>
      <p:sp>
        <p:nvSpPr>
          <p:cNvPr id="6" name="Shape 4"/>
          <p:cNvSpPr/>
          <p:nvPr/>
        </p:nvSpPr>
        <p:spPr>
          <a:xfrm>
            <a:off x="3527298" y="1828800"/>
            <a:ext cx="2430018" cy="2103120"/>
          </a:xfrm>
          <a:prstGeom prst="roundRect">
            <a:avLst>
              <a:gd name="adj" fmla="val 5217"/>
            </a:avLst>
          </a:prstGeom>
          <a:solidFill>
            <a:srgbClr val="1E2530"/>
          </a:solidFill>
          <a:ln/>
        </p:spPr>
      </p:sp>
      <p:sp>
        <p:nvSpPr>
          <p:cNvPr id="7" name="Text 5"/>
          <p:cNvSpPr/>
          <p:nvPr/>
        </p:nvSpPr>
        <p:spPr>
          <a:xfrm>
            <a:off x="3527298" y="2057400"/>
            <a:ext cx="24300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28/28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64458" y="3017520"/>
            <a:ext cx="2155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115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אינווריאנטים ברמת הרפו</a:t>
            </a:r>
            <a:endParaRPr lang="he-IL" sz="1150" dirty="0"/>
          </a:p>
        </p:txBody>
      </p:sp>
      <p:sp>
        <p:nvSpPr>
          <p:cNvPr id="9" name="Shape 7"/>
          <p:cNvSpPr/>
          <p:nvPr/>
        </p:nvSpPr>
        <p:spPr>
          <a:xfrm>
            <a:off x="6231636" y="1828800"/>
            <a:ext cx="2430018" cy="2103120"/>
          </a:xfrm>
          <a:prstGeom prst="roundRect">
            <a:avLst>
              <a:gd name="adj" fmla="val 5217"/>
            </a:avLst>
          </a:prstGeom>
          <a:solidFill>
            <a:srgbClr val="1E2530"/>
          </a:solidFill>
          <a:ln/>
        </p:spPr>
      </p:sp>
      <p:sp>
        <p:nvSpPr>
          <p:cNvPr id="10" name="Text 8"/>
          <p:cNvSpPr/>
          <p:nvPr/>
        </p:nvSpPr>
        <p:spPr>
          <a:xfrm>
            <a:off x="6231636" y="2057400"/>
            <a:ext cx="24300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68796" y="3017520"/>
            <a:ext cx="2155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115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פורטלים חיים — אדמין, עובד, נאמן</a:t>
            </a:r>
            <a:endParaRPr lang="he-IL" sz="1150" dirty="0"/>
          </a:p>
        </p:txBody>
      </p:sp>
      <p:sp>
        <p:nvSpPr>
          <p:cNvPr id="12" name="Shape 10"/>
          <p:cNvSpPr/>
          <p:nvPr/>
        </p:nvSpPr>
        <p:spPr>
          <a:xfrm>
            <a:off x="8935974" y="1828800"/>
            <a:ext cx="2430018" cy="2103120"/>
          </a:xfrm>
          <a:prstGeom prst="roundRect">
            <a:avLst>
              <a:gd name="adj" fmla="val 5217"/>
            </a:avLst>
          </a:prstGeom>
          <a:solidFill>
            <a:srgbClr val="1E2530"/>
          </a:solidFill>
          <a:ln/>
        </p:spPr>
      </p:sp>
      <p:sp>
        <p:nvSpPr>
          <p:cNvPr id="13" name="Text 11"/>
          <p:cNvSpPr/>
          <p:nvPr/>
        </p:nvSpPr>
        <p:spPr>
          <a:xfrm>
            <a:off x="8935974" y="2057400"/>
            <a:ext cx="24300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v1.2.0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073134" y="3017520"/>
            <a:ext cx="21556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115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גרסה נוכחית — תויגה ונדחפה</a:t>
            </a:r>
            <a:endParaRPr lang="he-IL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297680"/>
            <a:ext cx="10543032" cy="1371600"/>
          </a:xfrm>
          <a:prstGeom prst="roundRect">
            <a:avLst>
              <a:gd name="adj" fmla="val 8000"/>
            </a:avLst>
          </a:prstGeom>
          <a:solidFill>
            <a:srgbClr val="1B3D3A"/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297680"/>
            <a:ext cx="9902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he-IL" altLang="en-US" sz="1400" b="1" dirty="0">
                <a:solidFill>
                  <a:srgbClr val="CF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esop_database.db נבנה מחדש מהקוד הסופי ואומת. ה-git על ענף main, מיושר עם ה-remote — אין פעולה פתוחה.</a:t>
            </a:r>
            <a:endParaRPr lang="he-IL" sz="140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he-IL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הלאה</a:t>
            </a:r>
            <a:endParaRPr lang="he-IL" sz="3000" dirty="0"/>
          </a:p>
        </p:txBody>
      </p:sp>
      <p:sp>
        <p:nvSpPr>
          <p:cNvPr id="3" name="Shape 1"/>
          <p:cNvSpPr/>
          <p:nvPr/>
        </p:nvSpPr>
        <p:spPr>
          <a:xfrm>
            <a:off x="1280160" y="3520440"/>
            <a:ext cx="9628632" cy="0"/>
          </a:xfrm>
          <a:prstGeom prst="line">
            <a:avLst/>
          </a:prstGeom>
          <a:noFill/>
          <a:ln w="25400">
            <a:solidFill>
              <a:srgbClr val="2A33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71632" y="3383280"/>
            <a:ext cx="274320" cy="274320"/>
          </a:xfrm>
          <a:prstGeom prst="ellipse">
            <a:avLst/>
          </a:prstGeom>
          <a:solidFill>
            <a:srgbClr val="29D3C0"/>
          </a:solidFill>
          <a:ln w="25400">
            <a:solidFill>
              <a:srgbClr val="29D3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90404" y="2816352"/>
            <a:ext cx="1636776" cy="1865376"/>
          </a:xfrm>
          <a:prstGeom prst="roundRect">
            <a:avLst>
              <a:gd name="adj" fmla="val 5587"/>
            </a:avLst>
          </a:prstGeom>
          <a:solidFill>
            <a:srgbClr val="29D3C0">
              <a:alpha val="8000"/>
            </a:srgbClr>
          </a:solidFill>
          <a:ln w="12700">
            <a:solidFill>
              <a:srgbClr val="1B8F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00132" y="29260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v1.2.1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00132" y="374904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950" dirty="0">
                <a:solidFill>
                  <a:srgbClr val="D3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מיזוג, סבב גיוס והעברת מניות</a:t>
            </a:r>
            <a:endParaRPr lang="he-IL" sz="950" dirty="0"/>
          </a:p>
        </p:txBody>
      </p:sp>
      <p:sp>
        <p:nvSpPr>
          <p:cNvPr id="8" name="Text 6"/>
          <p:cNvSpPr/>
          <p:nvPr/>
        </p:nvSpPr>
        <p:spPr>
          <a:xfrm>
            <a:off x="10200132" y="47823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900" b="1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הבא בתור</a:t>
            </a:r>
            <a:endParaRPr lang="he-IL" sz="900" dirty="0"/>
          </a:p>
        </p:txBody>
      </p:sp>
      <p:sp>
        <p:nvSpPr>
          <p:cNvPr id="9" name="Shape 7"/>
          <p:cNvSpPr/>
          <p:nvPr/>
        </p:nvSpPr>
        <p:spPr>
          <a:xfrm>
            <a:off x="9166860" y="3383280"/>
            <a:ext cx="274320" cy="274320"/>
          </a:xfrm>
          <a:prstGeom prst="ellipse">
            <a:avLst/>
          </a:prstGeom>
          <a:solidFill>
            <a:srgbClr val="2A3340"/>
          </a:solidFill>
          <a:ln w="12700">
            <a:solidFill>
              <a:srgbClr val="4A55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0" y="38039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v1.2.2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0" y="224028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9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האצת הבשלה וסימולטור אקזיט</a:t>
            </a:r>
            <a:endParaRPr lang="he-IL" sz="950" dirty="0"/>
          </a:p>
        </p:txBody>
      </p:sp>
      <p:sp>
        <p:nvSpPr>
          <p:cNvPr id="12" name="Shape 10"/>
          <p:cNvSpPr/>
          <p:nvPr/>
        </p:nvSpPr>
        <p:spPr>
          <a:xfrm>
            <a:off x="7562088" y="3383280"/>
            <a:ext cx="274320" cy="274320"/>
          </a:xfrm>
          <a:prstGeom prst="ellipse">
            <a:avLst/>
          </a:prstGeom>
          <a:solidFill>
            <a:srgbClr val="2A3340"/>
          </a:solidFill>
          <a:ln w="12700">
            <a:solidFill>
              <a:srgbClr val="4A55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0588" y="29260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v1.2.3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90588" y="374904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9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דיוק כספי (Float→Decimal) ופיצול מניות</a:t>
            </a:r>
            <a:endParaRPr lang="he-IL" sz="950" dirty="0"/>
          </a:p>
        </p:txBody>
      </p:sp>
      <p:sp>
        <p:nvSpPr>
          <p:cNvPr id="15" name="Shape 13"/>
          <p:cNvSpPr/>
          <p:nvPr/>
        </p:nvSpPr>
        <p:spPr>
          <a:xfrm>
            <a:off x="5957316" y="3383280"/>
            <a:ext cx="274320" cy="274320"/>
          </a:xfrm>
          <a:prstGeom prst="ellipse">
            <a:avLst/>
          </a:prstGeom>
          <a:solidFill>
            <a:srgbClr val="2A3340"/>
          </a:solidFill>
          <a:ln w="12700">
            <a:solidFill>
              <a:srgbClr val="4A55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85816" y="38039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v1.3.0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85816" y="224028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9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אינטגרציות וייבוא/ייצוא המוני</a:t>
            </a:r>
            <a:endParaRPr lang="he-IL" sz="950" dirty="0"/>
          </a:p>
        </p:txBody>
      </p:sp>
      <p:sp>
        <p:nvSpPr>
          <p:cNvPr id="18" name="Shape 16"/>
          <p:cNvSpPr/>
          <p:nvPr/>
        </p:nvSpPr>
        <p:spPr>
          <a:xfrm>
            <a:off x="4352544" y="3383280"/>
            <a:ext cx="274320" cy="274320"/>
          </a:xfrm>
          <a:prstGeom prst="ellipse">
            <a:avLst/>
          </a:prstGeom>
          <a:solidFill>
            <a:srgbClr val="2A3340"/>
          </a:solidFill>
          <a:ln w="12700">
            <a:solidFill>
              <a:srgbClr val="4A55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81044" y="29260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v1.4.0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81044" y="374904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9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הערכות שווי (409A) ומחירי מניה</a:t>
            </a:r>
            <a:endParaRPr lang="he-IL" sz="950" dirty="0"/>
          </a:p>
        </p:txBody>
      </p:sp>
      <p:sp>
        <p:nvSpPr>
          <p:cNvPr id="21" name="Shape 19"/>
          <p:cNvSpPr/>
          <p:nvPr/>
        </p:nvSpPr>
        <p:spPr>
          <a:xfrm>
            <a:off x="2747772" y="3383280"/>
            <a:ext cx="274320" cy="274320"/>
          </a:xfrm>
          <a:prstGeom prst="ellipse">
            <a:avLst/>
          </a:prstGeom>
          <a:solidFill>
            <a:srgbClr val="2A3340"/>
          </a:solidFill>
          <a:ln w="12700">
            <a:solidFill>
              <a:srgbClr val="4A55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76272" y="38039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v1.5.0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76272" y="224028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9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קשיחות, אבטחה וכשירות לייצור</a:t>
            </a:r>
            <a:endParaRPr lang="he-IL" sz="950" dirty="0"/>
          </a:p>
        </p:txBody>
      </p:sp>
      <p:sp>
        <p:nvSpPr>
          <p:cNvPr id="24" name="Shape 22"/>
          <p:cNvSpPr/>
          <p:nvPr/>
        </p:nvSpPr>
        <p:spPr>
          <a:xfrm>
            <a:off x="1143000" y="3383280"/>
            <a:ext cx="274320" cy="274320"/>
          </a:xfrm>
          <a:prstGeom prst="ellipse">
            <a:avLst/>
          </a:prstGeom>
          <a:solidFill>
            <a:srgbClr val="2A3340"/>
          </a:solidFill>
          <a:ln w="12700">
            <a:solidFill>
              <a:srgbClr val="4A55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" y="29260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v1.6.0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1500" y="374904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he-IL" altLang="en-US" sz="95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העמקת מיסוי רב-מדינתי</a:t>
            </a:r>
            <a:endParaRPr lang="he-IL" sz="950" dirty="0"/>
          </a:p>
        </p:txBody>
      </p:sp>
      <p:sp>
        <p:nvSpPr>
          <p:cNvPr id="27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he-IL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he-IL" alt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 אחד, בלי גיליון אקסל אחד באמצע.</a:t>
            </a:r>
            <a:endParaRPr lang="he-IL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61188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9D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ESOP Enterprise Engine &amp; Testbed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9AA5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he-IL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2026-08-24T12:57:41Z</dcterms:created>
  <dcterms:modified xsi:type="dcterms:W3CDTF">2026-08-24T12:57:41Z</dcterms:modified>
</cp:coreProperties>
</file>